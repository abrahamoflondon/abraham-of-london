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8A96A8"/>
                </a:solidFill>
                <a:latin typeface="Arial"/>
              </a:defRPr>
            </a:pPr>
            <a:r>
              <a:rPr sz="900" b="0" i="0" u="none" strike="noStrike">
                <a:solidFill>
                  <a:srgbClr val="8A96A8"/>
                </a:solidFill>
                <a:latin typeface="Arial"/>
              </a:rPr>
              <a:t>2026 Global Growth Forecasts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Forecast %</c:v>
                </c:pt>
              </c:strCache>
            </c:strRef>
          </c:tx>
          <c:spPr>
            <a:solidFill>
              <a:srgbClr val="1C30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305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6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305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IMF (Original)</c:v>
                  </c:pt>
                  <c:pt idx="1">
                    <c:v>IMF (Revised)</c:v>
                  </c:pt>
                  <c:pt idx="2">
                    <c:v>UNCTAD</c:v>
                  </c:pt>
                  <c:pt idx="3">
                    <c:v>Private Houses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3.3</c:v>
                </c:pt>
                <c:pt idx="1">
                  <c:v>2.8</c:v>
                </c:pt>
                <c:pt idx="2">
                  <c:v>2.4</c:v>
                </c:pt>
                <c:pt idx="3">
                  <c:v>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6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6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6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1C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47472"/>
            <a:ext cx="1280160" cy="237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474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300" kern="0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Market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Report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239572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2026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3127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Briefing for Strategic Operators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520440"/>
            <a:ext cx="4114800" cy="18288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576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</a:t>
            </a:r>
            <a:pPr indent="0" marL="0">
              <a:buNone/>
            </a:pPr>
            <a:r>
              <a:rPr lang="en-US" sz="9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GMI-Q1-2026  </a:t>
            </a:r>
            <a:pPr indent="0" marL="0">
              <a:buNone/>
            </a:pPr>
            <a:r>
              <a:rPr lang="en-US" sz="900" b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</a:t>
            </a:r>
            <a:pPr indent="0" marL="0">
              <a:buNone/>
            </a:pPr>
            <a:r>
              <a:rPr lang="en-US" sz="9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1.3.0  </a:t>
            </a:r>
            <a:pPr indent="0" marL="0">
              <a:buNone/>
            </a:pPr>
            <a:r>
              <a:rPr lang="en-US" sz="900" b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Updated: </a:t>
            </a:r>
            <a:pPr indent="0" marL="0">
              <a:buNone/>
            </a:pPr>
            <a:r>
              <a:rPr lang="en-US" sz="9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8,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23560" y="502920"/>
            <a:ext cx="3246120" cy="868680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06440" y="5760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 2026 Growth Forecast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806440" y="7589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806440" y="11612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down from 3.3%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623560" y="1554480"/>
            <a:ext cx="3246120" cy="868680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06440" y="16276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US-China Tariff Level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806440" y="18105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806440" y="22128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reciprocal at 125%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623560" y="2606040"/>
            <a:ext cx="3246120" cy="868680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6440" y="26791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Drawdown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806440" y="28620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−12%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806440" y="326440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pre-Liberation Day highs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623560" y="3657600"/>
            <a:ext cx="3246120" cy="868680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06440" y="3730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10Y Treasury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806440" y="39136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~4.5%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806440" y="4315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Spiked post-April 2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623560" y="484632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 OF LONDON INTELLIGENCE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4864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Quarter That Changed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45720" cy="3108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opened under controlled instability. It closed under structural rupture.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April 2, 2026 — Liberation Day — sweeping reciprocal tariffs reshaped global trade architecture. The S&amp;P 500 fell 10–12%. The dollar weakened in a risk-off environment. Oil fell on demand fears. US 10Y yields spiked to ~4.5%. A 90-day pause followed April 9 — but US-China tariffs remain: 145% (US) and 125% (China).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pause reduced noise. It did not reduce the risk.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353312"/>
            <a:ext cx="4069080" cy="96926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444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0" y="14447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Disinflation without simplicity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773936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core inflation constrained central banks before April 2.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2468880"/>
            <a:ext cx="4069080" cy="96926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2560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0" y="2560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Geopolitics turned allocational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88950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was already discriminating by jurisdiction before Liberation Day.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3584448"/>
            <a:ext cx="4069080" cy="96926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6758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0" y="36758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Liberation Day: structural rupture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400507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architecture restructured. Boards must reprice all cross-border assumptions.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7433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 OF LONDON INTELLIGENCE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572000" y="4974336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GMI-Q1-2026 · v1.3.0 · RESTRICTED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4864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LIBERATION DAY — APRIL 2,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Liberation Day: The Event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984248" y="1042416"/>
            <a:ext cx="603504" cy="27432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14400"/>
            <a:ext cx="1572768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1572768" cy="1920240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3533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Liberation Day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1389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Sweeping reciprocal tariffs announced across virtually all trading partners.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60520" y="1042416"/>
            <a:ext cx="603504" cy="27432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87752" y="914400"/>
            <a:ext cx="1572768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9144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87752" y="1261872"/>
            <a:ext cx="1572768" cy="1920240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79192" y="13533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retaliates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79192" y="1664208"/>
            <a:ext cx="1389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announces 125% tariffs on US goods. Near-total trade severance at normal margins.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36792" y="1042416"/>
            <a:ext cx="603504" cy="27432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64024" y="914400"/>
            <a:ext cx="1572768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4024" y="9144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4–7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64024" y="1261872"/>
            <a:ext cx="1572768" cy="1920240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55464" y="13533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reprice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55464" y="1664208"/>
            <a:ext cx="1389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500 −10–12%. Dollar weakens. Oil falls. US 10Y spikes to ~4.5%.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40296" y="914400"/>
            <a:ext cx="1572768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0296" y="9144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40296" y="1261872"/>
            <a:ext cx="1572768" cy="1920240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31736" y="13533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pause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31736" y="1664208"/>
            <a:ext cx="1389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announced for most partners. US-China tariffs remain in full force at 145%/125%.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333756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MARKET IMPACT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1480" y="3611880"/>
            <a:ext cx="1572768" cy="822960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65760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" y="385876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−10–12%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130552" y="3611880"/>
            <a:ext cx="1572768" cy="822960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221992" y="365760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vs Risk-Off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221992" y="385876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7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Weakened ↓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49624" y="3611880"/>
            <a:ext cx="1572768" cy="822960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941064" y="365760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WTI Oil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941064" y="385876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7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Sharp decline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568696" y="3611880"/>
            <a:ext cx="1572768" cy="822960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660136" y="365760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10Y Yield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60136" y="385876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7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~4.5%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287768" y="3611880"/>
            <a:ext cx="1572768" cy="822960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379208" y="365760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Response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379208" y="385876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Frozen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97433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 OF LONDON INTELLIGENCE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572000" y="4974336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GMI-Q1-2026 · v1.3.0 · RESTRICTED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4864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MACRO SNAPSHOT — UPDATED APRIL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 Environment: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Strain Entering Unmanaged Rupture</a:t>
            </a:r>
            <a:endParaRPr lang="en-US" sz="2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234440"/>
          <a:ext cx="43891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74920" y="1234440"/>
            <a:ext cx="3749040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74920" y="1234440"/>
            <a:ext cx="45720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30368" y="1298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Core Inflation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0" y="1316736"/>
            <a:ext cx="1325880" cy="201168"/>
          </a:xfrm>
          <a:prstGeom prst="rect">
            <a:avLst/>
          </a:prstGeom>
          <a:solidFill>
            <a:srgbClr val="D4760A"/>
          </a:solidFill>
          <a:ln w="12700">
            <a:solidFill>
              <a:srgbClr val="D476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0" y="131673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230368" y="1527048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Tariffs add 1–2pp supply-side shock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074920" y="1892808"/>
            <a:ext cx="3749040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74920" y="1892808"/>
            <a:ext cx="45720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30368" y="19568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Reserve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315200" y="1975104"/>
            <a:ext cx="132588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197510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230368" y="2185416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cut (inflation) or raise (recession)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074920" y="2551176"/>
            <a:ext cx="3749040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74920" y="2551176"/>
            <a:ext cx="45720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30368" y="2615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Growth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315200" y="2633472"/>
            <a:ext cx="1325880" cy="201168"/>
          </a:xfrm>
          <a:prstGeom prst="rect">
            <a:avLst/>
          </a:prstGeom>
          <a:solidFill>
            <a:srgbClr val="D4760A"/>
          </a:solidFill>
          <a:ln w="12700">
            <a:solidFill>
              <a:srgbClr val="D4760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0" y="26334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DOWNGRADED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230368" y="2843784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2.5–2.8%; recession risk 40–60% in US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074920" y="3209544"/>
            <a:ext cx="3749040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074920" y="3209544"/>
            <a:ext cx="45720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30368" y="3273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Signal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315200" y="3291840"/>
            <a:ext cx="132588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15200" y="32918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230368" y="3502152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Weakened in risk-off — policy premium eroding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074920" y="3867912"/>
            <a:ext cx="3749040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074920" y="3867912"/>
            <a:ext cx="45720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230368" y="39319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Stress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315200" y="3950208"/>
            <a:ext cx="1325880" cy="201168"/>
          </a:xfrm>
          <a:prstGeom prst="rect">
            <a:avLst/>
          </a:prstGeom>
          <a:solidFill>
            <a:srgbClr val="D4760A"/>
          </a:solidFill>
          <a:ln w="12700">
            <a:solidFill>
              <a:srgbClr val="D4760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315200" y="395020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5230368" y="4160520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10Y ~4.5% — financial conditions tightening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65760" y="497433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 OF LONDON INTELLIGENCE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4572000" y="4974336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GMI-Q1-2026 · v1.3.0 · RESTRICTED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4864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ECONOMIES — UPDATED READINGS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Economy-by-Economy Strategic Reading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77824"/>
            <a:ext cx="4160520" cy="1207008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29000" y="969264"/>
            <a:ext cx="100584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9692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9692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 States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Tariff-driven inflation + Fed freeze + dollar weakness signal = policy credibility under stress. Reprice all US-dependent revenue models.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877824"/>
            <a:ext cx="4160520" cy="1207008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18120" y="969264"/>
            <a:ext cx="100584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9692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937760" y="9692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China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28016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145%/125% tariff structure makes direct US-China supply chains economically inoperable. Restructure immediately.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203704"/>
            <a:ext cx="4160520" cy="1207008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29000" y="2295144"/>
            <a:ext cx="1005840" cy="201168"/>
          </a:xfrm>
          <a:prstGeom prst="rect">
            <a:avLst/>
          </a:prstGeom>
          <a:solidFill>
            <a:srgbClr val="D4760A"/>
          </a:solidFill>
          <a:ln w="12700">
            <a:solidFill>
              <a:srgbClr val="D476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2951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48640" y="22951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Eurozone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60604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countermeasures in preparation. ECB has room to cut. Exporters with US exposure face asymmetric pressure.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2203704"/>
            <a:ext cx="4160520" cy="1207008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18120" y="2295144"/>
            <a:ext cx="1005840" cy="2011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22951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937760" y="22951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60604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beneficiary of supply chain restructuring. Near-term and long-term conviction case. Execution risk is real.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3529584"/>
            <a:ext cx="4160520" cy="1207008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29000" y="3621024"/>
            <a:ext cx="1005840" cy="2011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6210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48640" y="36210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Southeast Asia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393192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tariff rates than China. Manufacturing relocation accelerating. Risk: being flagged as China transit point.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3529584"/>
            <a:ext cx="4160520" cy="1207008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18120" y="3621024"/>
            <a:ext cx="1005840" cy="201168"/>
          </a:xfrm>
          <a:prstGeom prst="rect">
            <a:avLst/>
          </a:prstGeom>
          <a:solidFill>
            <a:srgbClr val="D4760A"/>
          </a:solidFill>
          <a:ln w="12700">
            <a:solidFill>
              <a:srgbClr val="D476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18120" y="36210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937760" y="36210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Middle East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393192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price headwind. Sovereign capital funds are active buyers in the dislocation. Intermediary role grows.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7433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 OF LONDON INTELLIGENCE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4572000" y="4974336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GMI-Q1-2026 · v1.3.0 · RESTRICTED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4864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OPPORTUNITY MAP — UPDATED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Capital Should and Should Not Go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7782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STRENGTH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52144"/>
            <a:ext cx="4023360" cy="32918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52144"/>
            <a:ext cx="45720" cy="3291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161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(domestic; tariff-insulated)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554480"/>
            <a:ext cx="4023360" cy="32918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554480"/>
            <a:ext cx="45720" cy="3291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6184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Nearshoring &amp; friend-shoring infrastructure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1956816"/>
            <a:ext cx="4023360" cy="32918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956816"/>
            <a:ext cx="45720" cy="3291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0208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resilience (demand accelerating)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359152"/>
            <a:ext cx="4023360" cy="32918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359152"/>
            <a:ext cx="45720" cy="3291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423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supply chain redesign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761488"/>
            <a:ext cx="4023360" cy="32918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761488"/>
            <a:ext cx="45720" cy="3291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8254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Defence-linked supply chains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163824"/>
            <a:ext cx="4023360" cy="32918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163824"/>
            <a:ext cx="45720" cy="3291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2278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infrastructure &amp; AI compute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566160"/>
            <a:ext cx="4023360" cy="32918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566160"/>
            <a:ext cx="45720" cy="3291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630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minerals &amp; resource security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968496"/>
            <a:ext cx="4023360" cy="32918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3968496"/>
            <a:ext cx="45720" cy="3291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032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software (domestic productivity)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09160" y="87782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CAUTION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1152144"/>
            <a:ext cx="4023360" cy="32918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1152144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12161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China-US dependent supply chains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1554480"/>
            <a:ext cx="4023360" cy="32918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1554480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16184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leveraged discretionary models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1956816"/>
            <a:ext cx="4023360" cy="32918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1956816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20208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Policy-dependent transition stories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2359152"/>
            <a:ext cx="4023360" cy="32918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2359152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2423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Narrative-led tech without cash logic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2761488"/>
            <a:ext cx="4023360" cy="32918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2761488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28254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exporters with China revenue exposure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09160" y="3163824"/>
            <a:ext cx="4023360" cy="32918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3163824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64608" y="32278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&amp; electronics (cross-border components)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97433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 OF LONDON INTELLIGENCE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572000" y="4974336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GMI-Q1-2026 · v1.3.0 · RESTRICTED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4864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SET — Q2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Scenarios. One Base Case.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2412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A9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987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Negotiated De-escalation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9844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pause produces bilateral agreements. Tariffs reduce materially. Markets recover. Growth stabilises.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06640" y="1115568"/>
            <a:ext cx="1188720" cy="3657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11155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15–20%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8412480" cy="914400"/>
          </a:xfrm>
          <a:prstGeom prst="rect">
            <a:avLst/>
          </a:prstGeom>
          <a:solidFill>
            <a:srgbClr val="1E2761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8424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" y="1947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Fragmentation  ← BASE CASE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25856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Tariffs remain elevated but stabilise. Supply chains restructure over 12–24 months. Growth 2.5–2.8%. Fed holds. Markets range-bound.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06640" y="2075688"/>
            <a:ext cx="1188720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20756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D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40–45%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8412480" cy="914400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94436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A9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05840" y="29077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Spiral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21868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countermeasures proliferate. Dollar weakness accelerates. Treasury stress increases. Fed forced to choose between inflation and recession.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06640" y="3035808"/>
            <a:ext cx="1188720" cy="365760"/>
          </a:xfrm>
          <a:prstGeom prst="rect">
            <a:avLst/>
          </a:prstGeom>
          <a:solidFill>
            <a:srgbClr val="D4760A"/>
          </a:solidFill>
          <a:ln w="12700">
            <a:solidFill>
              <a:srgbClr val="D476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30358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25–30%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8412480" cy="914400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90448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A9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005840" y="38679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Fracture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17880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funding event, corporate credit crisis, or geopolitical incident triggers systemic repricing. Non-linear consequence.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06640" y="3995928"/>
            <a:ext cx="118872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39959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10–15%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7433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 OF LONDON INTELLIGENCE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572000" y="4974336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GMI-Q1-2026 · v1.3.0 · RESTRICTED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4864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RECOMMENDATIONS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Actions for Serious Boards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4160520" cy="87782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96112"/>
            <a:ext cx="45720" cy="8778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692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78408" y="96926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Re-price all growth assumptions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280160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Pre-Liberation Day forecasts are operationally stale. Every cross-border revenue model requires revision.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82312" y="896112"/>
            <a:ext cx="4160520" cy="87782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82312" y="896112"/>
            <a:ext cx="45720" cy="8778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9692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49240" y="96926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tariff exposure by supply chain node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280160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input source, manufacturing location, and end-market against the current tariff schedule. Board-level, not management-level.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1883664"/>
            <a:ext cx="4160520" cy="87782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1883664"/>
            <a:ext cx="45720" cy="8778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95681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78408" y="195681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cash discipline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2267712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capital has not fallen. Companies with weak balance sheets face compounding pressure.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82312" y="1883664"/>
            <a:ext cx="4160520" cy="87782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82312" y="1883664"/>
            <a:ext cx="45720" cy="8778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95681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49240" y="195681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plan into the 90-day pause as stability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267712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pause reduced noise; it did not resolve the underlying architecture. Model expiry and escalation scenarios.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2871216"/>
            <a:ext cx="4160520" cy="87782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2871216"/>
            <a:ext cx="45720" cy="8778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29443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78408" y="294436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Fed freeze explicitly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" y="3255264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cuts through at least Q3 2026. Financial planning must assume monetary inaction.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82312" y="2871216"/>
            <a:ext cx="4160520" cy="87782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82312" y="2871216"/>
            <a:ext cx="45720" cy="8778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9443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49240" y="294436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supply chain optionality now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3255264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Nearshoring and dual-sourcing are urgent capital decisions. The window to act before competitors is narrow.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3858768"/>
            <a:ext cx="4160520" cy="87782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1480" y="3858768"/>
            <a:ext cx="45720" cy="8778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9319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78408" y="393192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 jurisdictional resilience over yield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" y="4242816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policy stability, rule of law, and tariff insulation alongside return metrics in capital allocation.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82312" y="3858768"/>
            <a:ext cx="4160520" cy="877824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82312" y="3858768"/>
            <a:ext cx="45720" cy="8778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9319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49240" y="393192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trade policy to board level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37760" y="4242816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 demonstrated that trade policy can restructure operating assumptions within days. Standing board agenda item.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97433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 OF LONDON INTELLIGENCE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4572000" y="4974336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GMI-Q1-2026 · v1.3.0 · RESTRICTED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integrates multilateral data, private-sector macro research, market-implied risk signals, geopolitical assessment, and board-level risk translation. It is not a trading memo. It is an executive intelligence product.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2834640"/>
            <a:ext cx="4389120" cy="27432"/>
          </a:xfrm>
          <a:prstGeom prst="rect">
            <a:avLst/>
          </a:prstGeom>
          <a:solidFill>
            <a:srgbClr val="2A3650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8895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194560" y="28895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GMI-Q1-2026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3172968"/>
            <a:ext cx="4389120" cy="27432"/>
          </a:xfrm>
          <a:prstGeom prst="rect">
            <a:avLst/>
          </a:prstGeom>
          <a:solidFill>
            <a:srgbClr val="2A3650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2278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94560" y="322783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3511296"/>
            <a:ext cx="4389120" cy="27432"/>
          </a:xfrm>
          <a:prstGeom prst="rect">
            <a:avLst/>
          </a:prstGeom>
          <a:solidFill>
            <a:srgbClr val="2A3650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5661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194560" y="35661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8, 2026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3849624"/>
            <a:ext cx="4389120" cy="27432"/>
          </a:xfrm>
          <a:prstGeom prst="rect">
            <a:avLst/>
          </a:prstGeom>
          <a:solidFill>
            <a:srgbClr val="2A3650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9044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0" y="390448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— Architect Tier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4187952"/>
            <a:ext cx="4389120" cy="27432"/>
          </a:xfrm>
          <a:prstGeom prst="rect">
            <a:avLst/>
          </a:prstGeom>
          <a:solidFill>
            <a:srgbClr val="2A3650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2428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194560" y="424281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· C-Suite · Institutional Allocators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47548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 OF LONDON INTELLIGENCE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49240" y="548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Numbers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349240" y="1097280"/>
            <a:ext cx="3474720" cy="530352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0" y="1161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Tariff on China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0" y="13533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145%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349240" y="1719072"/>
            <a:ext cx="3474720" cy="530352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0" y="17830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Tariff on US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0" y="1975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125%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349240" y="2340864"/>
            <a:ext cx="3474720" cy="530352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0" y="24048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 Growth Revised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86400" y="2596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7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2.8%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349240" y="2962656"/>
            <a:ext cx="3474720" cy="530352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0" y="30266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Recession Prob.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0" y="32186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7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40–60%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349240" y="3584448"/>
            <a:ext cx="3474720" cy="530352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0" y="3648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Duration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86400" y="38404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9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days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349240" y="4206240"/>
            <a:ext cx="3474720" cy="530352"/>
          </a:xfrm>
          <a:prstGeom prst="rect">
            <a:avLst/>
          </a:prstGeom>
          <a:solidFill>
            <a:srgbClr val="141C2E"/>
          </a:solidFill>
          <a:ln w="9525">
            <a:solidFill>
              <a:srgbClr val="2A36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486400" y="42702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Rate Cuts H1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86400" y="44622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7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Market Intelligence Report Q1 2026</dc:title>
  <dc:subject>PptxGenJS Presentation</dc:subject>
  <dc:creator>Abraham of London Intelligence</dc:creator>
  <cp:lastModifiedBy>Abraham of London Intelligence</cp:lastModifiedBy>
  <cp:revision>1</cp:revision>
  <dcterms:created xsi:type="dcterms:W3CDTF">2026-04-07T23:34:39Z</dcterms:created>
  <dcterms:modified xsi:type="dcterms:W3CDTF">2026-04-07T23:34:39Z</dcterms:modified>
</cp:coreProperties>
</file>